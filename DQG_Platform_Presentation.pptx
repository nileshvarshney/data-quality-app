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914400"/>
            <a:ext cx="4572000" cy="4572000"/>
          </a:xfrm>
          <a:prstGeom prst="ellipse">
            <a:avLst/>
          </a:prstGeom>
          <a:noFill/>
          <a:ln w="6350">
            <a:solidFill>
              <a:srgbClr val="2D5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1554480"/>
            <a:ext cx="3291840" cy="3291840"/>
          </a:xfrm>
          <a:prstGeom prst="ellipse">
            <a:avLst/>
          </a:prstGeom>
          <a:noFill/>
          <a:ln w="63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ENTERPRISE DATA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Data Quality &amp;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Governance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</a:rPr>
              <a:t>The Next-Generation Enterprise Data Intelligence Suite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3657600" cy="228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</a:rPr>
              <a:t>241+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API Endpoints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79" y="365760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</a:rPr>
              <a:t>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DB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65760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59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API Modules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365760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Navigation Sections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May 2026  |  CONFIDENTIAL — Internal &amp; Customer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457200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457200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0058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PART A — PRODUCT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261872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What the platform is, architecture, and 241+ API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73936"/>
            <a:ext cx="457200" cy="5303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653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77393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PART B — COMPETITIVE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7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Head-to-head vs Monte Carlo, Atlan, Great Expectations, dbt, Collibra, Informatica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42032"/>
            <a:ext cx="45720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633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54203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PART C — OUR DIFFERENTIATORS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98064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17 capabilities no competitor offers in a single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10128"/>
            <a:ext cx="457200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4015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3101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PART D — FUTURE ROADMAP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566160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Honest gaps and the phased plan to close them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78224"/>
            <a:ext cx="457200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16966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7822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PART E — WHY ADOPT 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34256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ROI case, adoption drivers, and customer value propositions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46320"/>
            <a:ext cx="457200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463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PART F — LEADERSHIP SECTION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02352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Investment, build story, team, and strategic vision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14416"/>
            <a:ext cx="457200" cy="5303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7058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6144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PART G — CUSTOMER SECTION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870448"/>
            <a:ext cx="10058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Use cases, success metrics, onboarding, and live demos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212598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A — PRODUCT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the DQ&amp;G Platform?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An enterprise-grade, open-source-deployable Data Quality &amp; Governance suite that unifies rule-based execution, ML anomaly detection, AI-native governance, data catalog, compliance automation, cost impact analytics, and real-time observability — in a single platform powered by Snowflake and LLMs.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36118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36118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07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Quality
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246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12 built-in + 4 semantic rule types, ML anomaly detection, concurrent execution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2148840"/>
            <a:ext cx="36118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2148840"/>
            <a:ext cx="361188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2807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246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NL-to-rule, RCA, PII discovery, auto-suggest, conversational governance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2148840"/>
            <a:ext cx="36118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2148840"/>
            <a:ext cx="36118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807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246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Glossary, classifications, column profiling, data products, catalog search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69080"/>
            <a:ext cx="36118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069080"/>
            <a:ext cx="36118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Governance 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Scorecards, policy engine, data contracts, compliance automation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4069080"/>
            <a:ext cx="36118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4069080"/>
            <a:ext cx="36118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4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4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4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OTEL metrics, SSE event stream, freshness board, incident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93024" y="4069080"/>
            <a:ext cx="361188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93024" y="4069080"/>
            <a:ext cx="36118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6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Cost &amp; 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51663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Dollar cost of bad data, averted cost tracking, executive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1815084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17236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A —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Technology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128016" cy="7498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51560"/>
            <a:ext cx="1152144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0642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35607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Next.js 15 · React 19 · TypeScript · Tailwind CSS · Recharts · Sonner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25272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</a:rPr>
              <a:t>Browser / Web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84248"/>
            <a:ext cx="128016" cy="7498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84248"/>
            <a:ext cx="1152144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03911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38CA"/>
                </a:solidFill>
              </a:rPr>
              <a:t>API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68296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FastAPI · 241 endpoints · 37 routers · JWT + X-API-Key + OAuth2 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8541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</a:rPr>
              <a:t>Python 3.12 · Async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16936"/>
            <a:ext cx="128016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16936"/>
            <a:ext cx="1152144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7180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00984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4 LLM providers (Ollama, OpenAI, Claude, Gemini) · RCA · NL-to-Rule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11810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</a:rPr>
              <a:t>AI / LLM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49624"/>
            <a:ext cx="128016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49624"/>
            <a:ext cx="1152144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0448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Data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3367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PostgreSQL 16 · 47 DB models · SQLAlchemy async · Alembic migrations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050791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</a:rPr>
              <a:t>Metadata &amp;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82312"/>
            <a:ext cx="128016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782312"/>
            <a:ext cx="1152144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371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Execution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166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Snowflake Python Connector · Connection Pool · Concurrent asyncio.gather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98348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</a:rPr>
              <a:t>Rule Execution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15000"/>
            <a:ext cx="128016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715000"/>
            <a:ext cx="1152144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76986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Infrastructure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09904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Docker · APScheduler · Vault/AWS SM · OTEL · Fernet encryption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916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64748B"/>
                </a:solidFill>
              </a:rPr>
              <a:t>Ops &amp;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1815084" cy="2560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17236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A —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Platform Capability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10 integrated capability layers — no integration tax between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73152" cy="87782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27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Quality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12+4 rule types · ML anomaly detection · concurrent execution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73152" cy="87782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27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Copilot &amp;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38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NL-to-rule · RCA · PII discovery · auto-suggest · post-mortem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78608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78608"/>
            <a:ext cx="73152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6265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Glossary · classifications · column profiling · data products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78608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578608"/>
            <a:ext cx="73152" cy="87782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Governance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6265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Scorecards · policy engine · data contracts · 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02736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602736"/>
            <a:ext cx="73152" cy="87782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75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Privacy &amp;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867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Fernet encryption · masking policies · ABAC · PII exposure 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02736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602736"/>
            <a:ext cx="73152" cy="87782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675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867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OTEL metrics · SSE event stream · freshness board · incident mgmt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626864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626864"/>
            <a:ext cx="73152" cy="8778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000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&amp; ROI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Cost per bad row · averted cost · executive dashboard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626864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626864"/>
            <a:ext cx="73152" cy="87782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000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CI/CD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Quality gates · dbt sync · GitHub Actions · pre-merge preview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650992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650992"/>
            <a:ext cx="73152" cy="8778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241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Rule Marketplace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Industry packs · AI-matched templates · community publish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650992"/>
            <a:ext cx="5577840" cy="8778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5650992"/>
            <a:ext cx="73152" cy="877824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7241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Mesh &amp; Lineage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6035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Cross-domain sharing · blast radius · dbt/Airflow integrations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2436876" cy="2560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23454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B — COMPETITIVE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The Data Quality &amp; Governance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Six dominant players — each strong in one layer, weak in others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920240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490472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463040"/>
            <a:ext cx="2468880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490472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Core Strength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463040"/>
            <a:ext cx="2468880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1490472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463040"/>
            <a:ext cx="914400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14904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463040"/>
            <a:ext cx="1371600" cy="3474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490472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874519"/>
            <a:ext cx="19202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984248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Monte Carlo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1874519"/>
            <a:ext cx="2468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1984248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ML anomaly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874519"/>
            <a:ext cx="2468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9472" y="1984248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observability-only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1874519"/>
            <a:ext cx="9144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2" y="1984248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$$$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874519"/>
            <a:ext cx="1371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198424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Cloud SaaS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551176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660904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Atlan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551176"/>
            <a:ext cx="2468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04872" y="2660904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Data catalog + governance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551176"/>
            <a:ext cx="2468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9472" y="2660904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no DQ execution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2551176"/>
            <a:ext cx="914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4072" y="2660904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$$$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2551176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2660904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Cloud SaaS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27832"/>
            <a:ext cx="19202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337560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Great Expectations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31720" y="3227832"/>
            <a:ext cx="2468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04872" y="3337560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Rule-based DQ framework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227832"/>
            <a:ext cx="2468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19472" y="3337560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developer tool, no 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3227832"/>
            <a:ext cx="9144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3337560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Open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3227832"/>
            <a:ext cx="1371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4192" y="3337560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Self-hosted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904487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4014215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dbt Tests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31720" y="3904487"/>
            <a:ext cx="2468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04872" y="4014215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In-pipeline SQL checks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3904487"/>
            <a:ext cx="2468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19472" y="4014215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no governance or catalog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60920" y="3904487"/>
            <a:ext cx="914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34072" y="4014215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Open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3904487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94192" y="4014215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Pipeline-only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581144"/>
            <a:ext cx="192024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" y="4690872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Collibra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31720" y="4581144"/>
            <a:ext cx="2468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04872" y="4690872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Enterprise governance &amp; MDM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4581144"/>
            <a:ext cx="2468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19472" y="4690872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no DQ execution, legacy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60920" y="4581144"/>
            <a:ext cx="9144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34072" y="4690872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$$$$$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4581144"/>
            <a:ext cx="1371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94192" y="4690872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Enterprise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257800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5367528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</a:rPr>
              <a:t>Informatica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31720" y="5257800"/>
            <a:ext cx="2468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04872" y="5367528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Legacy MDM + DQ suite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46320" y="5257800"/>
            <a:ext cx="2468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19472" y="5367528"/>
            <a:ext cx="2359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complex, expensive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60920" y="5257800"/>
            <a:ext cx="914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34072" y="5367528"/>
            <a:ext cx="804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$$$$$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21040" y="5257800"/>
            <a:ext cx="1371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94192" y="5367528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Enterprise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1970532" cy="2560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18790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B — FEATURE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Head-to-Head Feature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234440"/>
            <a:ext cx="256032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" y="1252728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1" y="1234440"/>
            <a:ext cx="914400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7" y="125272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DQ&amp;G 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66744" y="1234440"/>
            <a:ext cx="117043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25272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Monte Carlo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4608" y="1234440"/>
            <a:ext cx="91440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125272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Atlan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234440"/>
            <a:ext cx="117043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125272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Great Exp.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4304" y="1234440"/>
            <a:ext cx="91440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25272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dbt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1234440"/>
            <a:ext cx="100584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2711" y="1252728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Collibra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9407" y="1234440"/>
            <a:ext cx="1170432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3" y="1252728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Informatica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591056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1" y="163677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Rule-based DQ execution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24911" y="159105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1" y="16276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66744" y="159105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6744" y="16276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4608" y="159105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16276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159105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16276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04304" y="159105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4304" y="16276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46136" y="1591056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46136" y="16276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9407" y="159105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9407" y="16276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" y="1865376"/>
            <a:ext cx="256032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1" y="1911095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ML anomaly detection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24911" y="186537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24911" y="19019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66744" y="186537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66744" y="19019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64608" y="186537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4608" y="19019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06440" y="186537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19019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04304" y="186537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04304" y="19019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46136" y="1865376"/>
            <a:ext cx="10058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46136" y="19019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79407" y="186537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79407" y="19019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139696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1" y="2185415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AI NL-to-rule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24911" y="213969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24911" y="21762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6744" y="213969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66744" y="21762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64608" y="213969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64608" y="21762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213969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06440" y="21762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04304" y="213969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04304" y="21762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46136" y="2139696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46136" y="217627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79407" y="213969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79407" y="21762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7160" y="2414015"/>
            <a:ext cx="256032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1" y="2459735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Root cause analysis (AI)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24911" y="2414015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24911" y="245059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66744" y="2414015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66744" y="245059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64608" y="2414015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64608" y="245059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06440" y="2414015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06440" y="245059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04304" y="2414015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04304" y="245059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46136" y="2414015"/>
            <a:ext cx="10058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46136" y="2450591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414015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79407" y="245059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160" y="2688336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10311" y="273405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Data catalog + glossary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24911" y="268833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24911" y="27249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66744" y="268833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66744" y="272491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864608" y="268833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64608" y="27249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06440" y="268833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06440" y="272491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04304" y="268833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04304" y="27249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46136" y="2688336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46136" y="272491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79407" y="268833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79407" y="272491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962656"/>
            <a:ext cx="256032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1" y="300837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Governance scorecards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24911" y="296265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24911" y="29992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666744" y="296265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66744" y="29992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864608" y="296265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64608" y="29992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806440" y="296265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06440" y="29992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04304" y="296265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04304" y="29992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46136" y="2962656"/>
            <a:ext cx="10058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946136" y="29992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79407" y="296265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79407" y="29992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37160" y="3236976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10311" y="328269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Compliance automation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24911" y="323697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24911" y="32735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666744" y="323697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666744" y="32735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864608" y="323697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864608" y="32735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806440" y="323697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806440" y="32735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004304" y="323697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004304" y="32735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46136" y="3236976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46136" y="32735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979407" y="323697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979407" y="32735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37160" y="3511296"/>
            <a:ext cx="256032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10311" y="3557015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Data contracts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24911" y="351129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724911" y="35478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666744" y="351129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666744" y="35478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864608" y="351129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864608" y="35478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806440" y="351129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806440" y="35478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004304" y="351129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004304" y="35478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46136" y="3511296"/>
            <a:ext cx="10058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946136" y="354787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979407" y="351129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979407" y="35478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37160" y="3785615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10311" y="3831335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Data lineage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724911" y="3785615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724911" y="382219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666744" y="3785615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666744" y="382219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864608" y="3785615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864608" y="382219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806440" y="3785615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806440" y="382219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004304" y="3785615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004304" y="382219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946136" y="3785615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946136" y="3822191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979407" y="3785615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979407" y="382219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37160" y="4059935"/>
            <a:ext cx="256032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10311" y="4105655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Cost impact analytics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724911" y="4059935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724911" y="409651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666744" y="4059935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666744" y="409651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864608" y="4059935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864608" y="409651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806440" y="4059935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806440" y="409651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004304" y="4059935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004304" y="409651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946136" y="4059935"/>
            <a:ext cx="10058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946136" y="4096511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979407" y="4059935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979407" y="4096511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37160" y="4334256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10311" y="437997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Rule marketplace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724911" y="433425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724911" y="43708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666744" y="433425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666744" y="43708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864608" y="433425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864608" y="43708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806440" y="433425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806440" y="43708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004304" y="433425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004304" y="43708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946136" y="4334256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946136" y="43708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979407" y="433425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979407" y="43708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37160" y="4608576"/>
            <a:ext cx="256032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10311" y="465429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Incident management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724911" y="460857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724911" y="46451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666744" y="460857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3666744" y="46451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864608" y="460857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864608" y="46451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806440" y="460857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806440" y="46451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004304" y="460857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004304" y="46451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7946136" y="4608576"/>
            <a:ext cx="10058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946136" y="46451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8979407" y="460857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8979407" y="46451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37160" y="4882896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10311" y="492861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Streaming DQ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724911" y="488289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724911" y="49194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666744" y="488289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666744" y="49194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864608" y="488289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864608" y="49194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806440" y="488289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806440" y="49194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004304" y="488289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7004304" y="49194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946136" y="4882896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946136" y="491947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8979407" y="488289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979407" y="491947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37160" y="5157216"/>
            <a:ext cx="256032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10311" y="520293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CI/CD quality gates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724911" y="515721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724911" y="519379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3666744" y="515721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666744" y="51937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864608" y="515721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864608" y="519379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5806440" y="515721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806440" y="51937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7004304" y="515721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004304" y="519379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946136" y="5157216"/>
            <a:ext cx="10058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946136" y="519379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979407" y="515721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979407" y="519379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137160" y="5431536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10311" y="547725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Privacy / masking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724911" y="543153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24911" y="54681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3666744" y="543153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3666744" y="546811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4864608" y="543153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864608" y="54681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806440" y="543153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806440" y="546811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7004304" y="543153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004304" y="54681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7946136" y="5431536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7946136" y="546811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8979407" y="543153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8979407" y="546811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37160" y="5705856"/>
            <a:ext cx="256032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10311" y="575157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OTEL observability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2724911" y="570585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2724911" y="57424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666744" y="570585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666744" y="57424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864608" y="570585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864608" y="57424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806440" y="570585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5806440" y="57424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004304" y="5705856"/>
            <a:ext cx="9144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004304" y="574243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7946136" y="5705856"/>
            <a:ext cx="100584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7946136" y="574243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8979407" y="5705856"/>
            <a:ext cx="1170432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8979407" y="574243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137160" y="5980176"/>
            <a:ext cx="256032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210311" y="6025896"/>
            <a:ext cx="245059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Open source / self-hosted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724911" y="5980176"/>
            <a:ext cx="9144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2724911" y="60167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3666744" y="598017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3666744" y="60167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4864608" y="598017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4864608" y="60167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5806440" y="598017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5806440" y="60167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004304" y="5980176"/>
            <a:ext cx="91440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7004304" y="60167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7946136" y="5980176"/>
            <a:ext cx="1005840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7946136" y="601675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8979407" y="5980176"/>
            <a:ext cx="1170432" cy="274320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8979407" y="6016752"/>
            <a:ext cx="1170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1348740" cy="2560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12573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B —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Overall Platform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Scoring 17 capability dimensions (✅=2, 🟡=1, ❌=0) — max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201168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1417320"/>
            <a:ext cx="8433995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DQ&amp;G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48595" y="15270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32/34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80115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★ Market Leader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48840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148840"/>
            <a:ext cx="5271247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02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Collibra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847" y="22585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20/34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7367" y="2258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Governance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23160" y="2880360"/>
            <a:ext cx="4744122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7180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Informatica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8722" y="2990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18/34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0242" y="2990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Legacy suite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23160" y="3611880"/>
            <a:ext cx="4216997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0332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Atlan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1597" y="37216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16/34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3117" y="3721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Catalog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43400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23160" y="4343400"/>
            <a:ext cx="3162748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43484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Monte Carlo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7348" y="44531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12/34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8868" y="4453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Observability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074920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23160" y="5074920"/>
            <a:ext cx="2635623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166359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Great Exp.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0223" y="51846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10/34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1743" y="5184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Developer tool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06440"/>
            <a:ext cx="20116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23160" y="5806440"/>
            <a:ext cx="2108498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8978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dbt 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23098" y="59161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8/34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4618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Pipeline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235915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C — OUR DIFFERENTIATORS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17 Capabilities No Single Competitor Offers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The only platform that unifies all 10 data intelligence capability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37360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3749039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79" y="1874519"/>
            <a:ext cx="292608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892807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74519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NL-to-Rule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Write rules in English — AI generates SQL and 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737360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737360"/>
            <a:ext cx="3749039" cy="457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1" y="1874519"/>
            <a:ext cx="292608" cy="2926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1892807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1874519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Root Cause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30428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Automated failure investigation across lineage, schema, pipelines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737360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1737360"/>
            <a:ext cx="3749039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0183" y="1874519"/>
            <a:ext cx="292608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1892807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1664" y="1874519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Post-Mortem 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30428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Auto-generated incident post-mortems with timeline + action items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364991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364991"/>
            <a:ext cx="3749039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79" y="3502151"/>
            <a:ext cx="292608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520439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502151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Rule Marketplace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3192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Industry template packs + AI-powered matching by column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3364991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9392" y="3364991"/>
            <a:ext cx="3749039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1" y="3502151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0831" y="3520439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3502151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Impact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393192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Dollar cost of bad data per row + executive ROI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8744" y="3364991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38744" y="3364991"/>
            <a:ext cx="3749039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30183" y="3502151"/>
            <a:ext cx="292608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0183" y="3520439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41664" y="3502151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Contracts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3931920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Schema + quality SLA agreements with auto-violation detection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992624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4992624"/>
            <a:ext cx="3749039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79" y="5129784"/>
            <a:ext cx="292608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79" y="5148072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12978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Governance Scorecards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55955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6-dimension governance score per domain (quality/docs/cert/SLA)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79392" y="4992624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79392" y="4992624"/>
            <a:ext cx="3749039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70831" y="5129784"/>
            <a:ext cx="292608" cy="2926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70831" y="5148072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82312" y="512978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Semantic Rule Types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16552" y="555955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distribution_consistency, llm_semantic_check — beyond SQL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38744" y="4992624"/>
            <a:ext cx="3749039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38744" y="4992624"/>
            <a:ext cx="3749039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30183" y="5129784"/>
            <a:ext cx="292608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30183" y="5148072"/>
            <a:ext cx="256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41664" y="512978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Concurrent Execution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5904" y="5559552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asyncio.gather + pool — N rules run in parallel, not sequence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2670048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C — DIFFERENTIATORS (cont.)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More Unique Differentiators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347472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051560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088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SSE Real-Time Event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325880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Live quality events broadcast to Grafana/Datadog via EventSource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55648"/>
            <a:ext cx="347472" cy="5303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470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755648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1792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MTTD/MTTR Incident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029967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Full incident lifecycle with on-call routing and runbook automation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59736"/>
            <a:ext cx="347472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459736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496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Privacy PII Exposure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73405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Cross-references classifications vs masking policies — finds gaps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63824"/>
            <a:ext cx="347472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552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163824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AI-Recommended 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438144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AI matches marketplace templates to your column context — 0.0–1.0 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67912"/>
            <a:ext cx="347472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959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867912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9044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Data Sharing Agreements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14223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Cross-domain producer/consumer SLA contracts with topology graph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72000"/>
            <a:ext cx="347472" cy="5303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663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72000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4608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Compliance Evidence Packages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846320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GDPR/SOX/HIPAA evidence bundles with last-30-run proof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276088"/>
            <a:ext cx="347472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36752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276088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3126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dbt ref() Lineage 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5550407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Upload manifest.json to auto-populate lineage from dbt models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80176"/>
            <a:ext cx="347472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071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980176"/>
            <a:ext cx="109728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6016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Nightly Policy Evaluation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625449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Automated governance policy engine runs nightly, auto-resolves on fix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2359152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D — FUTURE ROADMAP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Competitors Have That We're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Honest capability gaps with a phased roadmap — competitors we'll close each gap vs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08760"/>
            <a:ext cx="100584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27048"/>
            <a:ext cx="9326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Priority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1016" y="1508760"/>
            <a:ext cx="182880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1527048"/>
            <a:ext cx="1755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6392" y="1508760"/>
            <a:ext cx="38404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527048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3448" y="1508760"/>
            <a:ext cx="20116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1527048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Closes gap 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4" y="1508760"/>
            <a:ext cx="91440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15270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847088"/>
            <a:ext cx="100584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938528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P1 — 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71016" y="1847088"/>
            <a:ext cx="182880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736" y="193852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Real-Time Streaming DQ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6392" y="1847088"/>
            <a:ext cx="384048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1938528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Kafka/Kinesis quality checks in-flight before landing in Snowflake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13448" y="1847088"/>
            <a:ext cx="201168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1938528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Monte Carlo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61704" y="1847088"/>
            <a:ext cx="91440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938528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Q3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459736"/>
            <a:ext cx="10058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551176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P1 — 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71016" y="2459736"/>
            <a:ext cx="1828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6736" y="2551176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Multi-Engine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36392" y="2459736"/>
            <a:ext cx="38404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2112" y="2551176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BigQuery, Databricks, Redshift, Synapse alongside Snowflake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13448" y="2459736"/>
            <a:ext cx="2011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2551176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Atlan, Collibra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61704" y="2459736"/>
            <a:ext cx="9144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2551176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Q3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072384"/>
            <a:ext cx="100584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163824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P2 — 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71016" y="3072384"/>
            <a:ext cx="182880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16736" y="3163824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Visual Lineage Graph UI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36392" y="3072384"/>
            <a:ext cx="384048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82112" y="3163824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Interactive lineage explorer — Atlan-style click-through graph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3448" y="3072384"/>
            <a:ext cx="201168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3163824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Atlan, Collibra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61704" y="3072384"/>
            <a:ext cx="91440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3163824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Q4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685032"/>
            <a:ext cx="10058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776472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P2 — MED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71016" y="3685032"/>
            <a:ext cx="1828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16736" y="3776472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OTEL Full Instrumentation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36392" y="3685032"/>
            <a:ext cx="38404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82112" y="3776472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Distributed tracing spans on rule execution (not just metrics)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13448" y="3685032"/>
            <a:ext cx="2011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9168" y="377647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Monte Carlo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61704" y="3685032"/>
            <a:ext cx="9144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7424" y="3776472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Q4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4297680"/>
            <a:ext cx="100584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38912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P2 — MED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71016" y="4297680"/>
            <a:ext cx="182880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16736" y="4389120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Zero-Trust ABAC Policies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36392" y="4297680"/>
            <a:ext cx="384048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82112" y="4389120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Attribute-based access policies beyond role-only RBAC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13448" y="4297680"/>
            <a:ext cx="201168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59168" y="4389120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Collibra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704" y="4297680"/>
            <a:ext cx="91440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07424" y="438912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Q4 2026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4910328"/>
            <a:ext cx="10058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5001768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P3 — LOW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71016" y="4910328"/>
            <a:ext cx="1828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16736" y="5001768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Native BI Connectors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36392" y="4910328"/>
            <a:ext cx="38404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82112" y="5001768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Tableau/Looker/Power BI downstream lineage auto-detection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013448" y="4910328"/>
            <a:ext cx="2011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59168" y="5001768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Atlan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61704" y="4910328"/>
            <a:ext cx="9144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07424" y="5001768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Q1 2027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5522976"/>
            <a:ext cx="100584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5614416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P3 — LOW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71016" y="5522976"/>
            <a:ext cx="182880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16736" y="5614416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Quantum-Safe Encryption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36392" y="5522976"/>
            <a:ext cx="384048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82112" y="5614416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Post-quantum cryptography for credential storage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13448" y="5522976"/>
            <a:ext cx="201168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59168" y="5614416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None yet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61704" y="5522976"/>
            <a:ext cx="914400" cy="530352"/>
          </a:xfrm>
          <a:prstGeom prst="rect">
            <a:avLst/>
          </a:prstGeom>
          <a:solidFill>
            <a:srgbClr val="1A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07424" y="5614416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Q2 2027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6135624"/>
            <a:ext cx="100584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6227064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P3 — LOW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71016" y="6135624"/>
            <a:ext cx="18288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16736" y="6227064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SaaS Cloud Offering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136392" y="6135624"/>
            <a:ext cx="38404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182112" y="6227064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Managed cloud deployment — currently self-hosted/Docker only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13448" y="6135624"/>
            <a:ext cx="201168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59168" y="6227064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Monte Carlo, Atlan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061704" y="6135624"/>
            <a:ext cx="914400" cy="5303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07424" y="6227064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Q2 2027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158191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1490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E — WHY 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5 Reasons Teams Choose DQ&amp;G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114300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No integration 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57276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Rule execution, catalog, governance, AI, lineage, compliance, cost — all in one platform. Zero API stitching between tools saves 6–12 months of integration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12848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212848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3957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304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Fraction of the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68833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Monte Carlo starts at $50K/yr. Collibra at $150K+. Our platform is open-source deployable — pay only for infrastructure. No per-seat licensing.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28415"/>
            <a:ext cx="114300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328415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1129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4198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AI-native — not AI-bolted-on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80390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AI is embedded in every layer: rule creation, failure explanation, PII discovery, governance assistant, template matching. Not a chat widget on 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43984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443984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62686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535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Built for data engineers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91947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Clean REST API (241 endpoints), GitHub Actions integration, dbt sync, service account API keys, YAML import. Engineers ship faster.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559552"/>
            <a:ext cx="114300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559552"/>
            <a:ext cx="73152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7424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650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Enterprise governance from day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Domain isolation, compliance frameworks (GDPR/SOX/HIPAA), data contracts, policy engine, masking policies — not an afterthought.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1737360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E — ROI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Measurable Business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118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118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59669"/>
                </a:solidFill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Per-seat licensing cost
(open source)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371600"/>
            <a:ext cx="36118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71600"/>
            <a:ext cx="361188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459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D4ED8"/>
                </a:solidFill>
              </a:rPr>
              <a:t>6–12mo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Integration time saved
vs multi-tool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371600"/>
            <a:ext cx="36118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371600"/>
            <a:ext cx="361188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16459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4338CA"/>
                </a:solidFill>
              </a:rPr>
              <a:t>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5146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Faster rule execution
(concurrent vs sequential)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36118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36118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2335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D9488"/>
                </a:solidFill>
              </a:rPr>
              <a:t>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920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Reduction in MTTD
(AI-assisted RCA)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2" y="3749039"/>
            <a:ext cx="36118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3749039"/>
            <a:ext cx="36118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402335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97706"/>
                </a:solidFill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8920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Compliance evidence
automation (GDPR+SOX)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3749039"/>
            <a:ext cx="36118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93024" y="3749039"/>
            <a:ext cx="36118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402335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C3AED"/>
                </a:solidFill>
              </a:rPr>
              <a:t>241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48920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API endpoints ready
for CI/CD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2359152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2267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F — INTERNAL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Development Journey &amp; Platform Maturity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5486400" cy="228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4864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88720"/>
            <a:ext cx="1234440" cy="6400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Phase 1
Foundation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1368" y="1188720"/>
            <a:ext cx="10058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133502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Rule engine · 12 rule types · Domain/subdomain hierarchy · PostgreSQL store · FastAPI · Next.js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75104"/>
            <a:ext cx="54864" cy="6400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975104"/>
            <a:ext cx="1234440" cy="6400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06654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338CA"/>
                </a:solidFill>
              </a:rPr>
              <a:t>Phase 2
Execution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1368" y="1975104"/>
            <a:ext cx="10058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12140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SQL generation · Snowflake execution · Scheduling · Scoring · Alerting · Slack/SMTP notifications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61488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761488"/>
            <a:ext cx="1234440" cy="6400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529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Phase 3
Dashboards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1368" y="2761488"/>
            <a:ext cx="10058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29077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Global/Domain/Subdomain/Table dashboards · 14-day trends · AI explain failure · AI rule 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47872"/>
            <a:ext cx="54864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547872"/>
            <a:ext cx="1234440" cy="6400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6393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</a:rPr>
              <a:t>Phase 4
Enterprise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1368" y="3547872"/>
            <a:ext cx="10058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3694176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RBAC · Audit trail · Rule approval workflow · Version history · Dataset certification · Bulk operations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34256"/>
            <a:ext cx="54864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334256"/>
            <a:ext cx="1234440" cy="6400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42569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Phase 5
Governance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01368" y="4334256"/>
            <a:ext cx="10058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4480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Data catalog · Glossary · Classification · Compliance · Contracts · Policy engine · Incidents · Lineage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20640"/>
            <a:ext cx="54864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120640"/>
            <a:ext cx="1234440" cy="6400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2120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Phase 6
AI-Native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1368" y="5120640"/>
            <a:ext cx="10058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526694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NL-to-rule · RCA · PII discovery · Post-mortem · AI marketplace matching · Semantic rule types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07024"/>
            <a:ext cx="54864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907024"/>
            <a:ext cx="1234440" cy="64008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99846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Phase 7
Hardening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01368" y="5907024"/>
            <a:ext cx="10058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20240" y="605332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Snowflake connection pooling · N+1 fixes · Domain isolation · SSO · Service accounts · OTEL · Vault/AWS SM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2048256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1956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F — TECHNICAL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Platform Engineering Highlights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62356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64008" cy="15727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Concurrent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asyncio.gather() bounded by Semaphore(pool_max) — N rules run in parallel, not sequence. 5× throughput on 20-rule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562356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64008" cy="15727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Connection Pooling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0195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Thread-safe SnowflakeConnectionPool keyed per credential set. Health-check-on-acquire. Drained cleanly on shutdown.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54680"/>
            <a:ext cx="562356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54680"/>
            <a:ext cx="64008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91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Domain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8503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Row-level WHERE domain_id = user.domain_id at every list endpoint. Server-side — no client trust. 7 enforcement points.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154680"/>
            <a:ext cx="562356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154680"/>
            <a:ext cx="64008" cy="15727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Secrets Bootstrap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8503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Vault KV v2 + AWS Secrets Manager loaded at startup before any other init. Falls back to .env silently.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937760"/>
            <a:ext cx="562356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37760"/>
            <a:ext cx="64008" cy="15727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74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Live Badge 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6811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Sidebar polls open alerts + pending rules + incidents every 60s. Section-level badge rollups. Persisted across navigation.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937760"/>
            <a:ext cx="5623560" cy="15727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937760"/>
            <a:ext cx="64008" cy="15727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074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Collapsible Sidebar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6811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Full/compact (icon-only) toggle. Per-section collapse. All states persisted to localStorage. Smooth CSS transition.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1426464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F —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12-Month Strategic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124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Q3 2026
(Now)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920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Shipped: 241 API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063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Shipped: AI Copilot + governance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206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Shipped: Compliance automation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166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5349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Shipped: Cost impact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1124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Q3 2026
(Planned)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737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1920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⚡ Real-time streaming DQ (Kafka)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880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3063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⚡ BigQuery + Databricks engines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023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4206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⚡ Visual lineage graph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5166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5349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⚡ Full OTEL distributed tracing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1124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737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1920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🔮 Zero-trust ABAC policies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880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3063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🔮 AI quality score prediction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023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4206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🔮 dbt/Airflow UI connectors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5166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5349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🔮 SaaS cloud offering (beta)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1097280"/>
            <a:ext cx="27432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11247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1737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62288" y="1920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🌟 Multi-cloud federation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2880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62288" y="3063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🌟 Quantum-safe encryption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4023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2288" y="4206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🌟 Automated self-healing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5166360"/>
            <a:ext cx="274320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53492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🌟 Enterprise marketplace launch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2125980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G — CUSTOMER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Built for Your Team,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A580C"/>
                </a:solidFill>
              </a:rPr>
              <a:t>Starting Day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</a:rPr>
              <a:t>Onboard in under 30 minutes. Production-ready in one sprint.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26517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4564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580C"/>
                </a:solidFill>
              </a:rPr>
              <a:t>&lt;30min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97763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Time to first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3383280"/>
            <a:ext cx="26517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34564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580C"/>
                </a:solidFill>
              </a:rPr>
              <a:t>1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397763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Time to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3383280"/>
            <a:ext cx="26517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34564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580C"/>
                </a:solidFill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97763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Per-seat license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3383280"/>
            <a:ext cx="26517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34564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A580C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97763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API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1581912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1490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G —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Use Cases by Persona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562356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0698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Data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Write rules in natural language — AI generates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20240"/>
            <a:ext cx="5623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965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Run rules on-demand or on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7744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423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Debug failures with AI root cause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34640"/>
            <a:ext cx="5623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880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CI/CD quality gates block bad pipeline merges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337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Service account API keys for 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05840"/>
            <a:ext cx="5623560" cy="4114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698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Analytics Engineer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46304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Column profiling &amp; data products for downstream consumers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20240"/>
            <a:ext cx="5623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9659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Business glossary links terms to columns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37744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423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Data contracts guarantee table quality to BI teams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834640"/>
            <a:ext cx="5623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880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Export compliance evidence for governance reviews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29184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337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Rule marketplace imports industry rule packs instantly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40480"/>
            <a:ext cx="562356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3904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🏛 Data Governance Lead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9768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343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Governance scorecards across all domains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754880"/>
            <a:ext cx="5623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4800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Policy engine auto-flags uncertified/unowned tables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21208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257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Compliance frameworks mapped to existing DQ rules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69280"/>
            <a:ext cx="5623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5715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Cross-domain sharing agreements with SLA tracking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12648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79" y="6172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Audit trail for every change, approval, and certification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840480"/>
            <a:ext cx="56235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9044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👔 Leadership / CDO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29768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343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Executive cost dashboard — dollar cost of bad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754880"/>
            <a:ext cx="5623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800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Governance scorecard trends across the organization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21208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257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Open incident MTTD/MTTR KPIs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5669280"/>
            <a:ext cx="5623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715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Platform ROI: cost averted vs infrastructure cost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6126480"/>
            <a:ext cx="562356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6172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▸  Single vendor instead of 3–5 point solutions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2048256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1956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G — GETTING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Up and Running in 4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274320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D4ED8"/>
                </a:solidFill>
              </a:rPr>
              <a:t>01
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286000"/>
            <a:ext cx="2468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docker compose up -d
Starts PostgreSQL, FastAPI, and Next.js frontend. Seeded with 7 domains, 32 subdomains, and sample 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37160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1371600"/>
            <a:ext cx="274320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38CA"/>
                </a:solidFill>
              </a:rPr>
              <a:t>02
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86000"/>
            <a:ext cx="2468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Settings → Snowflake → Add Connection
Paste your account, user, password, warehouse. Click Test Connection. Browse and register your first 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37160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37160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</a:rPr>
              <a:t>03
Create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286000"/>
            <a:ext cx="2468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Rules → New Rule (or use AI Copilot wizard)
Select your table, choose a rule type (or write in English), set severity. AI auto-generates the SQL.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424" y="1371600"/>
            <a:ext cx="2743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7424" y="137160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1508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9488"/>
                </a:solidFill>
              </a:rPr>
              <a:t>04
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286000"/>
            <a:ext cx="2468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Global Dashboard → Domain → Table
Schedule rules to run automatically. Get alerts on failures. Use AI Assistant to explain and fix issues.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2048256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1956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G — AI COPILOT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AI Copilot — Live Demo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731520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533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1097280"/>
            <a:ext cx="1060704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1704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Open AI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53619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Click the floating chat button (bottom-right). The panel opens with a Rule Creation Wizard and quick chat.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94560"/>
            <a:ext cx="731520" cy="8686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5059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194560"/>
            <a:ext cx="1060704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2677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Natural Language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6334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Type: "Invoice amounts must always be positive". AI returns: rule_type=range_check, min_value=0, severity=critical.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39"/>
            <a:ext cx="73152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478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3291839"/>
            <a:ext cx="1060704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36499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One-Click Import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73075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Select your table from the dropdown, review the generated SQL, click Save. Rule created as draft instantly.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731520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6451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4389120"/>
            <a:ext cx="1060704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4622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Run &amp; 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828031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After running, click AI Explain on a failure. Get: what failed, why it matters, root cause, and fix suggestion.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86400"/>
            <a:ext cx="731520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7424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5486400"/>
            <a:ext cx="1060704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5559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Ask the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9253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Ask: "Which Revenue tables have the most critical failures this week?" Get a formatted answer with live data.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189280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1801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G — PLATFORM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You'll See on Day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62356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6235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96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Global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Quality score ring · 14-day trend · domain grid with live scores · recent failures · open alerts · 3 layout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562356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5623560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996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Rules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1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Bulk select · inline edit drawer · run button with live result · approval workflow · version history tab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562356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697480"/>
            <a:ext cx="56235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25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Table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Score + certification badge · 30-day trend · column schema grid · lineage tab · compliance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2697480"/>
            <a:ext cx="562356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2697480"/>
            <a:ext cx="5623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25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🛡 Governance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004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Domain scorecards (6 dimensions) · policy violations table · data contracts list · evaluate button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23360"/>
            <a:ext cx="562356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23360"/>
            <a:ext cx="56235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513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🤖 AI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262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Full-page chat with LLM status banner · example questions · session history · provider indicator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023360"/>
            <a:ext cx="562356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023360"/>
            <a:ext cx="56235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1513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⚙ Settings (12 tabs)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262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General · Snowflake · LLM/AI · Security · OAuth/SSO · Performance · Integrations · SLA &amp; Quality · Governance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349240"/>
            <a:ext cx="562356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349240"/>
            <a:ext cx="56235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7725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❓ Help &amp; Reference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5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18-section user manual · 20-item searchable FAQ · rule type cards · metric glossary · API examples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5349240"/>
            <a:ext cx="5623560" cy="1170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59" y="5349240"/>
            <a:ext cx="56235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47725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🏪 Rule Marketplace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85215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Industry packs (Finance, HR, Healthcare) · AI-matched templates · import-as-draft · community ratings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2048256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1956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G — SUCCESS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How to Measure Success With DQ&amp;G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3749039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0515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Week 1 — Onboarding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3749039" cy="11155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00200"/>
            <a:ext cx="54864" cy="11155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099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Tables registered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305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&gt; 5 tables with active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34640"/>
            <a:ext cx="37490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834640"/>
            <a:ext cx="54864" cy="11155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44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Quality score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6499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Initial quality score established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69080"/>
            <a:ext cx="3749039" cy="11155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069080"/>
            <a:ext cx="54864" cy="11155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First alert fired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994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At least 1 alert generated in 7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03520"/>
            <a:ext cx="37490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303520"/>
            <a:ext cx="54864" cy="11155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13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Rule approval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33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At least 1 rule reviewed and approved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1005840"/>
            <a:ext cx="3749039" cy="5029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7" y="10515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Month 1 — Adoption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1600200"/>
            <a:ext cx="3749039" cy="11155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79" y="1600200"/>
            <a:ext cx="54864" cy="11155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17099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Rule coverage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1305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&gt; 80% of critical tables monitored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2834640"/>
            <a:ext cx="37490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79" y="2834640"/>
            <a:ext cx="54864" cy="11155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944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Pass rate trend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36499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Pass rate improving week-over-week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79" y="4069080"/>
            <a:ext cx="3749039" cy="11155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79" y="4069080"/>
            <a:ext cx="54864" cy="11155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178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Governance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5994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&gt; 60% on domain scorecard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79" y="5303520"/>
            <a:ext cx="37490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79" y="5303520"/>
            <a:ext cx="54864" cy="11155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5413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AI Copilot used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833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&gt; 10 rule creation wizard sessions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9" y="1005840"/>
            <a:ext cx="3749039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7" y="10515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Quarter 1 — Business Value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9" y="1600200"/>
            <a:ext cx="3749039" cy="11155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75319" y="1600200"/>
            <a:ext cx="54864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17099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Cost impact configured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1305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Cost per bad row set for top 3 tables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9" y="2834640"/>
            <a:ext cx="37490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5319" y="2834640"/>
            <a:ext cx="54864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944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MTTD reduction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36499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Average MTTD &lt; 60 minutes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9" y="4069080"/>
            <a:ext cx="3749039" cy="11155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19" y="4069080"/>
            <a:ext cx="54864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4178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Compliance gap &lt; 20%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459943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&lt; 20% compliance gaps across frameworks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19" y="5303520"/>
            <a:ext cx="3749039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75319" y="5303520"/>
            <a:ext cx="54864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5413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Executive dashboard shared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5833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CDO reviewing monthly cost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1737360" cy="2560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B —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Market Positioning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Breadth of capabilities (X) vs AI-native intelligence (Y)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10789920" cy="27432"/>
          </a:xfrm>
          <a:prstGeom prst="rect">
            <a:avLst/>
          </a:prstGeom>
          <a:solidFill>
            <a:srgbClr val="4B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508760"/>
            <a:ext cx="27432" cy="4846320"/>
          </a:xfrm>
          <a:prstGeom prst="rect">
            <a:avLst/>
          </a:prstGeom>
          <a:solidFill>
            <a:srgbClr val="4B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Breadth of Capabilities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2004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↑
AI-Native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1947672"/>
            <a:ext cx="181051" cy="181051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52176" y="1828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DQ&amp;G
Platform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5239512"/>
            <a:ext cx="139903" cy="139903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6" y="5120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Atlan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3136392"/>
            <a:ext cx="139903" cy="139903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3017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Monte Carlo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5605272"/>
            <a:ext cx="139903" cy="139903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6" y="54864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Collibra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4965192"/>
            <a:ext cx="139903" cy="139903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1376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Great Exp.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5422392"/>
            <a:ext cx="139903" cy="139903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6976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dbt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879592"/>
            <a:ext cx="139903" cy="139903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5760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Informatica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E7A"/>
                </a:solidFill>
              </a:rPr>
              <a:t>Limited AI
Limited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29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E7A"/>
                </a:solidFill>
              </a:rPr>
              <a:t>Limited AI
Broad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E7A"/>
                </a:solidFill>
              </a:rPr>
              <a:t>AI-Native
Limited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D4ED8"/>
                </a:solidFill>
              </a:rPr>
              <a:t>AI-Native
Broad Scope
★ IDEAL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"/>
            <a:ext cx="251460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015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G — SECURITY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Enterprise-Grade Security &amp; Compliance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3749039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0698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JWT HS256 tokens (30-min access / 7-day refresh)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9339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Google OAuth2 / SSO authorization code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50545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Service accounts with X-API-Key header (sa_prefix_secret format)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0175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bcrypt password hashing with passlib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005840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005840"/>
            <a:ext cx="3749039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0698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148132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5-role RBAC: admin, domain_owner, data_owner, viewer, auditor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199339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Row-level domain isolation for domain_owner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50545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7 enforcement points in list/detail/mutation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0175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Dynamic security: ABAC policies (Phase 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840480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840480"/>
            <a:ext cx="3749039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39044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Fernet symmetric encryption for Snowflake passwords + LLM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482803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Column-level masking policies (5 masking types)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PII discovery scan via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No raw credentials stored in plaintext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40480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3749039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9044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6 built-in frameworks: GDPR, CCPA, HIPAA, SOX, BCBS 239, ISO 27001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482803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Compliance gap assessment with one API 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Evidence packages for audit-ready compliance proof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Immutable audit trail: every mutation logged with before/after JSON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6675120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59" y="6675120"/>
            <a:ext cx="3749039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67391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61688" y="715060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HashiCorp Vault KV v2 secrets bootstrap at startup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766267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AWS Secrets Manager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817473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Content-Security-Policy headers on all responses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1688" y="8686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/docs endpoint disabled in production (APP_ENV=prod)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6675120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6675120"/>
            <a:ext cx="3749039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9327" y="67391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7" y="715060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Rate limiting (SlowAPI) on auth endpoints: 10/min login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766267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Connection pool health checks prevent stale Snowflake connections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7" y="817473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Request ID injected by middleware — traced across all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7" y="8686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• Zero-downtime schema migrations via inline ALTER TABLE IF NOT EXISTS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212598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5448"/>
            <a:ext cx="20345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PART E — COST OF INACTION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Cost of Not Having 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Industry research on the business impact of poor data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577840" cy="205740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5778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DC2626"/>
                </a:solidFill>
              </a:rPr>
              <a:t>$12.9M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Average annual cost of poor data quality per enterprise
(Gartner, 2021)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5577840" cy="205740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57784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20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A580C"/>
                </a:solidFill>
              </a:rPr>
              <a:t>3.1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Per week spent by employees fixing bad data
(Harvard Business Review)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577840" cy="205740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5778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D97706"/>
                </a:solidFill>
              </a:rPr>
              <a:t>27%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Of data in enterprise systems is inaccurate, incomplete, or duplicate
(IBM Study)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023360"/>
            <a:ext cx="5577840" cy="205740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023360"/>
            <a:ext cx="55778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51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DC2626"/>
                </a:solidFill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0749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Of business initiatives fail due to poor data quality
(Experian, 2022)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6803136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</a:rPr>
              <a:t>Ready to Get Started?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</a:rPr>
              <a:t>Three paths to your first quality score in under 30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639312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363931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🚀 Deploy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docker compose up -d
Full stack in 3 commands.
Free, open-source, no signup.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920240"/>
            <a:ext cx="3639312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920240"/>
            <a:ext cx="3639312" cy="6400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338CA"/>
                </a:solidFill>
              </a:rPr>
              <a:t>📞 Request a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72491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Let us walk through your
specific Snowflake environment
and configure your first domain.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920240"/>
            <a:ext cx="3639312" cy="3474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920240"/>
            <a:ext cx="363931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</a:rPr>
              <a:t>📖 Read the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72491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Explore the in-app Help manual,
REST API docs at /docs,
and user guide at /help.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577840"/>
            <a:ext cx="12188952" cy="12070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760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Data Quality &amp; Governance Platform  •  Enterprise Data Intelligence Suite  •  v3.0  •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0807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Source code, documentation, and deployment guides available via your account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7132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Unified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30759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The only product combining rule-based DQ, ML anomaly detection, AI governance, catalog, compliance, cost analytics, and CI/CD integration in one deployable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18488"/>
            <a:ext cx="21945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54864" cy="71323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38CA"/>
                </a:solidFill>
              </a:rPr>
              <a:t>AI-Native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2199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AI is embedded in every layer — not a chat widget added on top. NL-to-rule, automated RCA, PII discovery, governance assistant, and template matching all use LLMs natively.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32888"/>
            <a:ext cx="21945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Open &amp; Extensible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13639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241 REST endpoints. Service account API keys. GitHub Actions integration. dbt/Airflow sync. Deploy on Docker, Kubernetes, or bare metal. Zero vendor lock-in.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47288"/>
            <a:ext cx="21945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54864" cy="7132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6907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Enterprise-Ready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050791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Domain isolation, OAuth2/SSO, Fernet encryption, Vault/AWS SM, OTEL metrics, compliance automation (6 frameworks), 5-role RBAC with row-level enforcement.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61688"/>
            <a:ext cx="21945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54864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8347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Honest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96519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Streaming DQ and multi-engine support are Phase 2 (Q3 2026). Visual lineage graph and OTEL tracing in Q4 2026. SaaS offering in Q2 2027. No vaporware.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76088"/>
            <a:ext cx="21945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806440"/>
            <a:ext cx="54864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89787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Measurable ROI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879592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Track cost per bad row. Measure averted incident cost. Executive dashboard shows dollar value created. Governance scorecard tracks improvement over time.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190488"/>
            <a:ext cx="219456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828800"/>
            <a:ext cx="4572000" cy="4572000"/>
          </a:xfrm>
          <a:prstGeom prst="ellipse">
            <a:avLst/>
          </a:prstGeom>
          <a:noFill/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3200400"/>
            <a:ext cx="2926080" cy="2926080"/>
          </a:xfrm>
          <a:prstGeom prst="ellipse">
            <a:avLst/>
          </a:prstGeom>
          <a:noFill/>
          <a:ln w="508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3840480"/>
            <a:ext cx="1828800" cy="1828800"/>
          </a:xfrm>
          <a:prstGeom prst="ellipse">
            <a:avLst/>
          </a:prstGeom>
          <a:noFill/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D4ED8"/>
                </a:solidFill>
              </a:rPr>
              <a:t>Data Quality &amp; Governance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4572000" cy="228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Questions, demos, and deployment support: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👉  Open the in-app AI Copilot or AI Assistant for a live demonstration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👉  Visit /help for the complete 18-section user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👉  See /docs for the full 241-endpoint REST API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E7A"/>
                </a:solidFill>
              </a:rPr>
              <a:t>v3.0  ·  Enterprise Data Intelligence Suite  ·  May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